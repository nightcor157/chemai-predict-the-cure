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0584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800" b="1">
                <a:solidFill>
                  <a:srgbClr val="14213D"/>
                </a:solidFill>
                <a:latin typeface="Aptos"/>
              </a:defRPr>
            </a:pPr>
            <a:r>
              <a:t>ChemAI: Predict the Cure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3736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3272F"/>
                </a:solidFill>
                <a:latin typeface="Aptos"/>
              </a:defRPr>
            </a:pPr>
            <a:r>
              <a:t>Предсказание IC50, CC50 и SI по молекулярным дескрипторам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514600"/>
            <a:ext cx="2286000" cy="384048"/>
          </a:xfrm>
          <a:prstGeom prst="roundRect">
            <a:avLst/>
          </a:prstGeom>
          <a:solidFill>
            <a:srgbClr val="1CA4A0"/>
          </a:solidFill>
          <a:ln>
            <a:solidFill>
              <a:srgbClr val="1CA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Kaggle RMSE: 301.11499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5E6778"/>
                </a:solidFill>
                <a:latin typeface="Aptos"/>
              </a:defRPr>
            </a:pPr>
            <a:r>
              <a:t>Финальная версия: простой и воспроизводимый RandomForest-пайплайн с отдельной моделью под каждый таргет.</a:t>
            </a:r>
          </a:p>
        </p:txBody>
      </p:sp>
      <p:sp>
        <p:nvSpPr>
          <p:cNvPr id="6" name="Oval 5"/>
          <p:cNvSpPr/>
          <p:nvPr/>
        </p:nvSpPr>
        <p:spPr>
          <a:xfrm>
            <a:off x="8412480" y="1188720"/>
            <a:ext cx="502920" cy="502920"/>
          </a:xfrm>
          <a:prstGeom prst="ellipse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509760" y="1828800"/>
            <a:ext cx="502920" cy="502920"/>
          </a:xfrm>
          <a:prstGeom prst="ellipse">
            <a:avLst/>
          </a:prstGeom>
          <a:solidFill>
            <a:srgbClr val="1CA4A0"/>
          </a:solidFill>
          <a:ln>
            <a:solidFill>
              <a:srgbClr val="1CA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92440" y="2743200"/>
            <a:ext cx="502920" cy="502920"/>
          </a:xfrm>
          <a:prstGeom prst="ellipse">
            <a:avLst/>
          </a:prstGeom>
          <a:solidFill>
            <a:srgbClr val="F59837"/>
          </a:solidFill>
          <a:ln>
            <a:solidFill>
              <a:srgbClr val="F59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241280" y="3017520"/>
            <a:ext cx="502920" cy="502920"/>
          </a:xfrm>
          <a:prstGeom prst="ellipse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0" y="3840480"/>
            <a:ext cx="502920" cy="502920"/>
          </a:xfrm>
          <a:prstGeom prst="ellipse">
            <a:avLst/>
          </a:prstGeom>
          <a:solidFill>
            <a:srgbClr val="1CA4A0"/>
          </a:solidFill>
          <a:ln>
            <a:solidFill>
              <a:srgbClr val="1CA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48463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4213D"/>
                </a:solidFill>
                <a:latin typeface="Aptos"/>
              </a:defRPr>
            </a:pPr>
            <a:r>
              <a:t>Hackathon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440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5E6778"/>
                </a:solidFill>
                <a:latin typeface="Aptos"/>
              </a:defRPr>
            </a:pPr>
            <a:r>
              <a:t>ML для ускорения раннего drug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E67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213D"/>
                </a:solidFill>
                <a:latin typeface="Aptos Display"/>
              </a:defRPr>
            </a:pPr>
            <a:r>
              <a:t>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6778"/>
                </a:solidFill>
                <a:latin typeface="Aptos"/>
              </a:defRPr>
            </a:pPr>
            <a:r>
              <a:t>Нужно предсказать три биологических показателя для новых молекул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A5BD7"/>
                </a:solidFill>
                <a:latin typeface="Aptos Display"/>
              </a:defRPr>
            </a:pPr>
            <a:r>
              <a:t>IC50</a:t>
            </a:r>
          </a:p>
          <a:p>
            <a:pPr algn="ctr">
              <a:defRPr sz="1200">
                <a:solidFill>
                  <a:srgbClr val="5E6778"/>
                </a:solidFill>
                <a:latin typeface="Aptos"/>
              </a:defRPr>
            </a:pPr>
            <a:r>
              <a:t>эффективность против вируса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55448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CA4A0"/>
                </a:solidFill>
                <a:latin typeface="Aptos Display"/>
              </a:defRPr>
            </a:pPr>
            <a:r>
              <a:t>CC50</a:t>
            </a:r>
          </a:p>
          <a:p>
            <a:pPr algn="ctr">
              <a:defRPr sz="1200">
                <a:solidFill>
                  <a:srgbClr val="5E6778"/>
                </a:solidFill>
                <a:latin typeface="Aptos"/>
              </a:defRPr>
            </a:pPr>
            <a:r>
              <a:t>цитотоксичность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55448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59837"/>
                </a:solidFill>
                <a:latin typeface="Aptos Display"/>
              </a:defRPr>
            </a:pPr>
            <a:r>
              <a:t>SI</a:t>
            </a:r>
          </a:p>
          <a:p>
            <a:pPr algn="ctr">
              <a:defRPr sz="1200">
                <a:solidFill>
                  <a:srgbClr val="5E6778"/>
                </a:solidFill>
                <a:latin typeface="Aptos"/>
              </a:defRPr>
            </a:pPr>
            <a:r>
              <a:t>селективность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Даны табличные молекулярные дескрипторы химических соединений.</a:t>
            </a:r>
          </a:p>
          <a:p>
            <a:pPr>
              <a:spcAft>
                <a:spcPts val="7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Нужно получить предсказания для test.csv и сформировать submission.csv.</a:t>
            </a:r>
          </a:p>
          <a:p>
            <a:pPr>
              <a:spcAft>
                <a:spcPts val="7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Основная метрика соревнования — RMSE, поэтому крупные ошибки особенно сильно ухудшают результат.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E67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213D"/>
                </a:solidFill>
                <a:latin typeface="Aptos Display"/>
              </a:defRPr>
            </a:pPr>
            <a:r>
              <a:t>Данные и первичный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6778"/>
                </a:solidFill>
                <a:latin typeface="Aptos"/>
              </a:defRPr>
            </a:pPr>
            <a:r>
              <a:t>Размерность данных и общий профиль целевых переменных</a:t>
            </a:r>
          </a:p>
        </p:txBody>
      </p:sp>
      <p:pic>
        <p:nvPicPr>
          <p:cNvPr id="4" name="Picture 3" descr="data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029200" cy="2743200"/>
          </a:xfrm>
          <a:prstGeom prst="rect">
            <a:avLst/>
          </a:prstGeom>
        </p:spPr>
      </p:pic>
      <p:pic>
        <p:nvPicPr>
          <p:cNvPr id="5" name="Picture 4" descr="target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07492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52628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72F"/>
                </a:solidFill>
                <a:latin typeface="Aptos"/>
              </a:defRPr>
            </a:pPr>
            <a:r>
              <a:t>Обучение: 751 молекула; тест: 250 молекул; признаков после удаления index и targets: 210.</a:t>
            </a:r>
          </a:p>
          <a:p>
            <a:pPr>
              <a:spcAft>
                <a:spcPts val="700"/>
              </a:spcAft>
              <a:defRPr sz="1600">
                <a:solidFill>
                  <a:srgbClr val="23272F"/>
                </a:solidFill>
                <a:latin typeface="Aptos"/>
              </a:defRPr>
            </a:pPr>
            <a:r>
              <a:t>Таргеты положительные и имеют выраженную асимметрию, особенно SI.</a:t>
            </a:r>
          </a:p>
          <a:p>
            <a:pPr>
              <a:spcAft>
                <a:spcPts val="700"/>
              </a:spcAft>
              <a:defRPr sz="1600">
                <a:solidFill>
                  <a:srgbClr val="23272F"/>
                </a:solidFill>
                <a:latin typeface="Aptos"/>
              </a:defRPr>
            </a:pPr>
            <a:r>
              <a:t>Для устойчивого обучения применяются преобразования целевых переменных.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E67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213D"/>
                </a:solidFill>
                <a:latin typeface="Aptos Display"/>
              </a:defRPr>
            </a:pPr>
            <a:r>
              <a:t>Распределения таргетов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6778"/>
                </a:solidFill>
                <a:latin typeface="Aptos"/>
              </a:defRPr>
            </a:pPr>
            <a:r>
              <a:t>Логарифмическая шкала показывает асимметрию и выбросы</a:t>
            </a:r>
          </a:p>
        </p:txBody>
      </p:sp>
      <p:pic>
        <p:nvPicPr>
          <p:cNvPr id="4" name="Picture 3" descr="hist_IC50_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57600" cy="2377440"/>
          </a:xfrm>
          <a:prstGeom prst="rect">
            <a:avLst/>
          </a:prstGeom>
        </p:spPr>
      </p:pic>
      <p:pic>
        <p:nvPicPr>
          <p:cNvPr id="5" name="Picture 4" descr="hist_CC50_m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3657600" cy="2377440"/>
          </a:xfrm>
          <a:prstGeom prst="rect">
            <a:avLst/>
          </a:prstGeom>
        </p:spPr>
      </p:pic>
      <p:pic>
        <p:nvPicPr>
          <p:cNvPr id="6" name="Picture 5" descr="hist_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234440"/>
            <a:ext cx="365760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1605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IC50 и SI дополнительно преобразуются через PowerTransformer.</a:t>
            </a:r>
          </a:p>
          <a:p>
            <a:pPr>
              <a:spcAft>
                <a:spcPts val="7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Для CC50 выбран RobustScaler, так как этот таргет содержит крупные значения.</a:t>
            </a:r>
          </a:p>
          <a:p>
            <a:pPr>
              <a:spcAft>
                <a:spcPts val="7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Для SI удаляется по 1% крайних значений при обучении, чтобы снизить влияние выбросов.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E67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213D"/>
                </a:solidFill>
                <a:latin typeface="Aptos Display"/>
              </a:defRPr>
            </a:pPr>
            <a:r>
              <a:t>Предобработка и признаки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6778"/>
                </a:solidFill>
                <a:latin typeface="Aptos"/>
              </a:defRPr>
            </a:pPr>
            <a:r>
              <a:t>Оставлена простая схема, которую легко воспроизвести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577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Удаляется только служебный столбец index.</a:t>
            </a:r>
          </a:p>
          <a:p>
            <a:pPr>
              <a:spcAft>
                <a:spcPts val="7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Все молекулярные дескрипторы используются как признаки.</a:t>
            </a:r>
          </a:p>
          <a:p>
            <a:pPr>
              <a:spcAft>
                <a:spcPts val="7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Пропуски заполняются медианой по train.</a:t>
            </a:r>
          </a:p>
          <a:p>
            <a:pPr>
              <a:spcAft>
                <a:spcPts val="7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Один и тот же imputer применяется к train и test.</a:t>
            </a:r>
          </a:p>
          <a:p>
            <a:pPr>
              <a:spcAft>
                <a:spcPts val="700"/>
              </a:spcAft>
              <a:defRPr sz="1800">
                <a:solidFill>
                  <a:srgbClr val="23272F"/>
                </a:solidFill>
                <a:latin typeface="Aptos"/>
              </a:defRPr>
            </a:pPr>
            <a:r>
              <a:t>Случайность фиксируется через RANDOM_STATE = 42.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074920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E6778"/>
                </a:solidFill>
                <a:latin typeface="Aptos"/>
              </a:defRPr>
            </a:pPr>
            <a:r>
              <a:t>Важность признаков рассчитана по финальным RandomForest-моделям.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E67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213D"/>
                </a:solidFill>
                <a:latin typeface="Aptos Display"/>
              </a:defRPr>
            </a:pPr>
            <a:r>
              <a:t>Модельная схема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6778"/>
                </a:solidFill>
                <a:latin typeface="Aptos"/>
              </a:defRPr>
            </a:pPr>
            <a:r>
              <a:t>Отдельная модель под каждый таргет вместо одного общего предсказателя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2194560" cy="411480"/>
          </a:xfrm>
          <a:prstGeom prst="round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IC50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PowerTransformer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RandomForestRegressor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n_estimators=300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min_samples_leaf=3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34440"/>
            <a:ext cx="2194560" cy="411480"/>
          </a:xfrm>
          <a:prstGeom prst="roundRect">
            <a:avLst/>
          </a:prstGeom>
          <a:solidFill>
            <a:srgbClr val="1CA4A0"/>
          </a:solidFill>
          <a:ln>
            <a:solidFill>
              <a:srgbClr val="1CA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CC50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7830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RobustScaler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RandomForestRegressor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n_estimators=300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min_samples_leaf=3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2194560" cy="411480"/>
          </a:xfrm>
          <a:prstGeom prst="roundRect">
            <a:avLst/>
          </a:prstGeom>
          <a:solidFill>
            <a:srgbClr val="F59837"/>
          </a:solidFill>
          <a:ln>
            <a:solidFill>
              <a:srgbClr val="F59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78308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Фильтрация 1–99%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PowerTransformer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RandomForestRegressor</a:t>
            </a:r>
          </a:p>
          <a:p>
            <a:pPr>
              <a:spcAft>
                <a:spcPts val="400"/>
              </a:spcAft>
              <a:defRPr sz="1600" b="0">
                <a:solidFill>
                  <a:srgbClr val="23272F"/>
                </a:solidFill>
                <a:latin typeface="Aptos"/>
              </a:defRPr>
            </a:pPr>
            <a:r>
              <a:t>max_depth=10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Выбор RandomForest связан с устойчивостью на небольших табличных данных и отсутствием необходимости сложного масштабирования признаков.</a:t>
            </a:r>
          </a:p>
          <a:p>
            <a:pPr>
              <a:spcAft>
                <a:spcPts val="700"/>
              </a:spcAft>
              <a:defRPr sz="1700">
                <a:solidFill>
                  <a:srgbClr val="23272F"/>
                </a:solidFill>
                <a:latin typeface="Aptos"/>
              </a:defRPr>
            </a:pPr>
            <a:r>
              <a:t>Целевые переменные обрабатываются по-разному, так как имеют разные распределения и разные масштабы.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E67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329</Words>
  <Application>Microsoft Office PowerPoint</Application>
  <PresentationFormat>Широкоэкранный</PresentationFormat>
  <Paragraphs>60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Илья</cp:lastModifiedBy>
  <cp:revision>2</cp:revision>
  <dcterms:created xsi:type="dcterms:W3CDTF">2013-01-27T09:14:16Z</dcterms:created>
  <dcterms:modified xsi:type="dcterms:W3CDTF">2026-05-31T14:18:17Z</dcterms:modified>
  <cp:category/>
</cp:coreProperties>
</file>